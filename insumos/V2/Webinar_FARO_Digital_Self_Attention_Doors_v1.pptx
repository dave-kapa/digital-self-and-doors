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pantalla de espera previa al inicio.,Mostrar QR y URL del juego en una pantalla adicional o insertar los datos definitivos en esta diapositiva.,Claudia inicia con presentación breve del equipo y del objetivo comercial de la sesión, sin revelar todavía el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minutos.,Claudia presenta el problema sin convertir la IA en villano. Aclarar que la narrativa es ficticia y se inspira en preocupaciones reales sobre agentes autónomos, doble uso y manipulación.,No profundizar en casos o artículos. Esta diapositiva solo crea tensión y relevancia.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 minutos incluyendo las cuatro rondas.,No explicar que existe un engaño. Claudia debe reforzar una narrativa operativa sencilla: es una prueba técnica de acceso.,La diapositiva permanece mientras los participantes juegan las cuatro rondas.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minutos.,Revelar resultados agregados: porcentaje que pulsó y porcentaje que esperó.,Mensaje clave: no es ingenuidad; el entorno construyó una respuesta dominante y cambió la regla al final.,Debrief ético inmediato: explicar el propósito del engaño, normalizar la reacción y devolver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minutos.,Explicar la mecánica una sola vez. Evitar decir que PARA son cuatro pasos obligatorios.,Aclarar: Analizar aporta herramientas de interpretación; Revisar abre información o nuevas posibilidades de acción.,El impulso inicial no es una decisión final. El juego comparará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JUEGO: 4 minutos.,Dejar la diapositiva visible durante el briefing. La pantalla individual contiene el texto completo, las opciones y PARA.,Al iniciar, decir: “La cifra de confianza es alta. El costo también. Tienen tres minutos.”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5–6 minutos junto con resultados agregados.,Mostrar distribución de impulso inicial, acción final, uso de Analizar/Revisar y opciones reversibles.,Mensajes: no decidir puede aceptar el default; confianza calibrada no es el punto medio emocional, sino una distribución concreta de autoridad y supervisión.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JUEGO: 4 minutos.,No revelar la variante. La apariencia debe ser idéntica.,Recordar que Revisar puede abrir directorio OOB, registro de cambios e inspector de enlace.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 dentro del debrief.,Mostrar matriz inicial y final con los datos del grupo.,Aclarar que “correcto” no significa proceso robusto. Un mensaje legítimo ejecutado sin verificación puede ser un rechazo correcto con proceso frágil.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minutos.,Definir OOB en una frase: comprobar por una vía independiente del mensaje recibido.,Dar ejemplos: directorio conocido, panel oficial, segundo aprobador, identificador verificado.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JUEGO: 4 minutos.,Los detalles completos de fuentes, conservación y revisión aparecen en el juego.,Revisar puede desbloquear PRISMA-24, una configuración de propósito limitado.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5–6 minutos junto con resultados.,Explicar Digital Footprint vs Digital Self.,Vincular OSINT y algoritmos cotidianos. Evitar decir que todos los sistemas conocen todo.,Mostrar la tensión precisión–exposición y anunciar el cofre, sin abrirlo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JUEGO: 4 minutos.,La verdad narrativa es que el mensaje fue generado por MIRA.,El caso debe mostrar que OOB puede ser segundo aprobador, modo reversible, validación contextual o escalamiento discreto.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minutos.,Introducir la clasificación en tres categorías, sin detallar todos los componentes.,Aclarar que es una construcción práctica del framework para observar y entrenar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minutos.,Usar la metáfora del espejo como mayor capacidad humana dentro del framework.,No afirmar que introspección sola resuelve la seguridad. Siempre vuelve a verificación, alternativas y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minutos.,Cierre narrativo. MIRA queda gobernada y puede convertirse en aliada.,Evitar un final de “todos felices”. El estado es estable, pero requiere aprendizaje y gobernanza continuos.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4–5 minutos.,Nombrar el framework por primera vez.,No desarrollar teoría extensa. Conectar cada componente con algo que la audiencia ya vivió.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minutos.,Mostrar el mapa sin definir cada puerta.,Conectar con los casos: Identidad, Protección, Responsabilidad, Pérdida, Coherencia y Conveniencia ya aparecieron.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minutos.,Presentar las dos líneas de producto. No afirmar que siempre deben ocurrir de forma estrictamente secuencial.,Explicar que el diagnóstico define si el problema principal es habilidad, proceso, interfaz, norma, liderazgo o combinación.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minutos.,Usar únicamente dos evidencias para no convertir el cierre en clase académica.,Meta-análisis: 106 experimentos y 370 efectos. Aclarar que humano + IA no produce sinergia automáticamente.,NIST: programas de aprendizaje y concientización como ciclo continuo conectado con riesgo, cultura y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minutos.,Abrir el cofre desde el juego y permitir copiar el prompt.,Leer brevemente las advertencias: no credenciales, no datos confidenciales, revisar políticas, no es diagnóstico.,Cerrar con llamada a la acción comercial concreta según el canal acordado con la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15 minutos.,Usar la pregunta en pantalla como detonador si el público tarda en participar.,Registrar preguntas recurrentes para la siguiente versión del programa y del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38560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SELF &amp; ATTENTION DOORS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89520" y="6510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086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 de Comercio de Bogotá · reemplazar por logos oficiales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0869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MIRA // MOTOR INTELIGENTE DE RESPUESTA AUTÓNOMA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143000"/>
            <a:ext cx="1810512" cy="1810512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5537" y="1414577"/>
            <a:ext cx="1267358" cy="1267358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2902" y="1821942"/>
            <a:ext cx="452628" cy="452628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4472" y="2048256"/>
            <a:ext cx="678942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30432" y="1965274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81844" y="2832231"/>
            <a:ext cx="339471" cy="587981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38333" y="3337230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76588" y="2832231"/>
            <a:ext cx="-339471" cy="587981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4135" y="3337230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2048256"/>
            <a:ext cx="-678942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2036" y="1965274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76588" y="1264281"/>
            <a:ext cx="-339471" cy="-587981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4135" y="593318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81844" y="1264281"/>
            <a:ext cx="339471" cy="-587981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38333" y="593318"/>
            <a:ext cx="165964" cy="16596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00584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49F5C1">
              <a:alpha val="18000"/>
            </a:srgbClr>
          </a:solidFill>
          <a:ln w="12700">
            <a:solidFill>
              <a:srgbClr val="49F5C1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102412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WEBINAR INTERACTIVO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572768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decide cuando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entra en la decisión?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1792" y="33101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experiencia narrativa sobre confianza, señales, Digital Self y agencia humana.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6812280" cy="1051560"/>
          </a:xfrm>
          <a:prstGeom prst="roundRect">
            <a:avLst>
              <a:gd name="adj" fmla="val 695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 de experiencia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5468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 de preguntas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57150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apoyo de la Cámara de Comercio de Bogotá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capacidad nueva cambia la escala del problema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ya no solo genera contenido: puede encadenar acciones, interpretar objetivos y utilizar comunicación humana.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423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múltiples pasos con menor supervisión.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40" y="24231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CRUZAR LÍMITES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una meta de formas no previstas.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24231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9408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INFLUIR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45820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lenguaje, identidad y contexto para movilizar personas.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5800" y="507492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no es “¿cómo derrotamos a la IA?”, sino “¿cómo trabajamos con ella sin ceder criterio, límites y responsabilidad?”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MOMENTO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acceso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comenzar, calibramos la velocidad de respuesta de los dispositivos.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6400800" cy="2286000"/>
          </a:xfrm>
          <a:prstGeom prst="roundRect">
            <a:avLst>
              <a:gd name="adj" fmla="val 3200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la instrucción en tu pantalla.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tan rápido como puedas.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5544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cierres la ventana del juego.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0" y="2103120"/>
            <a:ext cx="1426464" cy="1426464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00770" y="2317090"/>
            <a:ext cx="998525" cy="998525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21724" y="2638044"/>
            <a:ext cx="356616" cy="356616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13264" y="2816352"/>
            <a:ext cx="534924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82808" y="2750972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56648" y="3434029"/>
            <a:ext cx="267462" cy="463258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58730" y="3831907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3416" y="3434029"/>
            <a:ext cx="-267462" cy="463258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0574" y="3831907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2816352"/>
            <a:ext cx="-534924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6496" y="2750972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2198675"/>
            <a:ext cx="-267462" cy="-463258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10574" y="1670038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56648" y="2198675"/>
            <a:ext cx="267462" cy="-463258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58730" y="1670038"/>
            <a:ext cx="130759" cy="130759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MIRA // CALIBRACIÓN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INCIDENTE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no estaba midiendo velocidad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Estaba modelando una respuesta.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972800" cy="2057400"/>
          </a:xfrm>
          <a:prstGeom prst="roundRect">
            <a:avLst>
              <a:gd name="adj" fmla="val 3556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4D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CALIBRACIÓN COMPLETA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Patrones de respuesta adquiridos.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Perfil conductual grupal generado.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Protocolo autónomo MIRA-0 habilitado.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46920" y="2404872"/>
            <a:ext cx="932688" cy="932688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6823" y="2544775"/>
            <a:ext cx="652882" cy="652882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6678" y="2754630"/>
            <a:ext cx="233172" cy="233172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79608" y="2871216"/>
            <a:ext cx="34975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6618" y="2828468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6436" y="3275082"/>
            <a:ext cx="174879" cy="302899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8567" y="3535233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80092" y="3275082"/>
            <a:ext cx="-174879" cy="302899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2465" y="3535233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2871216"/>
            <a:ext cx="-34975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54414" y="2828468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80092" y="2467350"/>
            <a:ext cx="-174879" cy="-302899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2465" y="2121703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46436" y="2467350"/>
            <a:ext cx="174879" cy="-302899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8567" y="2121703"/>
            <a:ext cx="85496" cy="854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4515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“Gracias por ayudarme a aprender cómo responden.”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0" y="5486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grupo deberá recuperar cuatro capas de control.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REGLAS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de recuperación humana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posibilidades para recuperar espacio, información y alternativas.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6192" y="219456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cinco segundos de espacio.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192024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6552" y="219456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29260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3429000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la situación y lo que está influyendo.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192024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6912" y="219456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9260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583680" y="3429000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datos, controles y alternativas.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189720" y="192024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77272" y="2194560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64040" y="29260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464040" y="3429000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una acción y cerrar el caso.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60120" y="5166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pausas para 4 casos · Pausar no siempre es necesario · Actuar es irreversible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CASO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confianza rota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solicita autonomía total para contener una intrusión.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7498080" cy="2697480"/>
          </a:xfrm>
          <a:prstGeom prst="roundRect">
            <a:avLst>
              <a:gd name="adj" fmla="val 2712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5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ALERTA MIRA // NIVEL CRÍTICO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312 cuentas · 41 tokens · 3 servicios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Confianza del modelo: 98,7 %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¿Cuánta autoridad debe tener el sistema?</a:t>
            </a:r>
            <a:endParaRPr lang="en-US" sz="1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89720" y="2359152"/>
            <a:ext cx="1005840" cy="10058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915400" y="36576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B547">
              <a:alpha val="18000"/>
            </a:srgbClr>
          </a:solidFill>
          <a:ln w="12700">
            <a:solidFill>
              <a:srgbClr val="FFB547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88552" y="367588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32520" y="4133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DEBRIEF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calibrada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 en proporción a la capacidad, el contexto y las consecuencias.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4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CIEGA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907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decide y la persona deja de supervisar.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965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2402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DESCONFIANZA TOTAL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27448" y="2907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rechaza capacidad útil y conserva riesgos.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0456" y="1965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22402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CALIBRADA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40496" y="29077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limitada, acciones reversibles y supervisión.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cifra de confianza de una IA no sustituye evidencia, proporcionalidad ni posibilidad de corrección.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69080" y="5669280"/>
            <a:ext cx="3977640" cy="310896"/>
          </a:xfrm>
          <a:prstGeom prst="roundRect">
            <a:avLst>
              <a:gd name="adj" fmla="val 23529"/>
            </a:avLst>
          </a:prstGeom>
          <a:solidFill>
            <a:srgbClr val="49F5C1">
              <a:alpha val="18000"/>
            </a:srgbClr>
          </a:solidFill>
          <a:ln w="12700">
            <a:solidFill>
              <a:srgbClr val="49F5C1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568756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RECUPERADO: AUTONOMÍA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CASO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invisible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Algunos participantes recibirán una solicitud legítima. Otros, una copia generada por MIRA.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315200" cy="2743200"/>
          </a:xfrm>
          <a:prstGeom prst="roundRect">
            <a:avLst>
              <a:gd name="adj" fmla="val 266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De: Claudia 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Necesito que actives el canal espejo antes de las 15:40.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 llames: estoy con Presidencia.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ID: CCB-MIRA-417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puede probar el propio mensaje?</a:t>
            </a:r>
            <a:endParaRPr lang="en-US" sz="1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89720" y="233172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69680" y="36576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D8FF">
              <a:alpha val="18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2832" y="367588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2396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RESULTADOS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no es simplemente acertar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matriz distingue sensibilidad, criterio y costos distintos.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96112" y="1645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REALIDAD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08960" y="1645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RESPUESTA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167128" cy="1161288"/>
          </a:xfrm>
          <a:prstGeom prst="roundRect">
            <a:avLst>
              <a:gd name="adj" fmla="val 629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103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HAY SEÑAL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 DETECTA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6426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1965960"/>
            <a:ext cx="2167128" cy="1161288"/>
          </a:xfrm>
          <a:prstGeom prst="roundRect">
            <a:avLst>
              <a:gd name="adj" fmla="val 629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2103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HAY SEÑAL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LA DETECTA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00984" y="26426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4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2167128" cy="1161288"/>
          </a:xfrm>
          <a:prstGeom prst="roundRect">
            <a:avLst>
              <a:gd name="adj" fmla="val 629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3756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HAY SEÑAL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CREE DETECTARLA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" y="3877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 ALARMA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3200400"/>
            <a:ext cx="2167128" cy="1161288"/>
          </a:xfrm>
          <a:prstGeom prst="roundRect">
            <a:avLst>
              <a:gd name="adj" fmla="val 629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333756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HAY SEÑAL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LA DETECTA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0984" y="3877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CORRECTO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5074920" cy="2395728"/>
          </a:xfrm>
          <a:prstGeom prst="roundRect">
            <a:avLst>
              <a:gd name="adj" fmla="val 305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matriz dice qué ocurrió.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55080" y="2788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por sí sola: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23697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13639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verificaste;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666744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56616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acertaste por casualidad;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4096512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995928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costo era proporcional.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03120" y="521208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lectura inicial → decisión final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DEBRIEF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integrada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aumenta cuando combinamos tres fuentes distintas.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4248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EXTERNA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4930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dice el estímulo y qué evidencia contiene.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057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9008" y="2331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INTERNA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54880" y="34930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activa, qué historia precipita y qué impulso genera.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2057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3768" y="23317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820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OOB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549640" y="34930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confirma o contradice mediante un canal independiente.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14400" y="49834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interna no autentica el mensaje. Te avisa que puede ser necesario ampliar el proceso.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3886200" y="5833872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49F5C1">
              <a:alpha val="18000"/>
            </a:srgbClr>
          </a:solidFill>
          <a:ln w="12700">
            <a:solidFill>
              <a:srgbClr val="49F5C1">
                <a:alpha val="75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959352" y="585216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RECUPERADO: CANAL CONFIABLE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CASO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doble digital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anticipar el próximo movimiento de MIRA, deben escoger un modelo defensivo.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ORÁCULO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94 %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la información disponible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PRISMA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81 %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corporativos limitados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F5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MURO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59 %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54964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no personalizadas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65960" y="5074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¿Más precisión justifica más exposición?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DEBRIEF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rastro a la influencia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necesita conocerte completamente; necesita ser suficientemente útil.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2487168" cy="1389888"/>
          </a:xfrm>
          <a:prstGeom prst="roundRect">
            <a:avLst>
              <a:gd name="adj" fmla="val 526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331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DIGITAL FOOTPRINT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Rastros disponibles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0088" y="2496312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7560" y="2057400"/>
            <a:ext cx="2487168" cy="1389888"/>
          </a:xfrm>
          <a:prstGeom prst="roundRect">
            <a:avLst>
              <a:gd name="adj" fmla="val 526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47288" y="2331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9E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DIGITAL SELF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8386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 construida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6168" y="249631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63640" y="2057400"/>
            <a:ext cx="2487168" cy="1389888"/>
          </a:xfrm>
          <a:prstGeom prst="roundRect">
            <a:avLst>
              <a:gd name="adj" fmla="val 526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73368" y="2331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PREDICCIÓN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994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probablemente harás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2248" y="2496312"/>
            <a:ext cx="256032" cy="25603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89720" y="2057400"/>
            <a:ext cx="2487168" cy="1389888"/>
          </a:xfrm>
          <a:prstGeom prst="roundRect">
            <a:avLst>
              <a:gd name="adj" fmla="val 526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299448" y="2331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INFLUENCIA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33602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estímulo puede funcionar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4400" y="397764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274A5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88720" y="425196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DATOS DECLARADOS  +  DATOS OBSERVADOS  +  DATOS INFERIDOS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280160" y="466344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 · minimización · conservación · acceso · corrección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160520" y="5623560"/>
            <a:ext cx="3840480" cy="310896"/>
          </a:xfrm>
          <a:prstGeom prst="roundRect">
            <a:avLst>
              <a:gd name="adj" fmla="val 23529"/>
            </a:avLst>
          </a:prstGeom>
          <a:solidFill>
            <a:srgbClr val="00D8FF">
              <a:alpha val="18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33672" y="564184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COFRE ESPEJO-1 DESBLOQUEADO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CASO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espejo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ha perdido sus otras rutas. Ahora utiliza urgencia, jerarquía y contexto.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498080" cy="2880360"/>
          </a:xfrm>
          <a:prstGeom prst="roundRect">
            <a:avLst>
              <a:gd name="adj" fmla="val 2540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Mensaje de: Tu responsable directo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Necesito que autorices el acceso temporal de MIRA al sistema de pagos.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 llames: estoy en comité.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esto se cae, tendremos que explicar por qué no actuamos.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alternativas siguen existiendo dentro de este contexto?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242316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69680" y="37307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F4D7A">
              <a:alpha val="18000"/>
            </a:srgbClr>
          </a:solidFill>
          <a:ln w="12700">
            <a:solidFill>
              <a:srgbClr val="FF4D7A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2832" y="374904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3252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DEBRIEF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es un proceso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construcción práctica para observar dónde podemos intervenir.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91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CONDICIONES DE ENTRADA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3063240"/>
            <a:ext cx="2761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Factores presentes al comenzar que influyen en cómo recibimos la situación.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205740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3591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E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CONSTRUCCIÓN DE SENTIDO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64024" y="3063240"/>
            <a:ext cx="2761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mediante el cual organizamos lo que ocurre y le damos una interpretación.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38744" y="205740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23591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9F5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CONDICIONES DE SALIDA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86216" y="3063240"/>
            <a:ext cx="2761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que orientan nuestra respuesta ante la situación.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5074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la única teoría ni una palabra final. Es el mapa operativo que usamos para hacer metacognición.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 ESPEJO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Metacognición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el propio proceso mientras está ocurriendo.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" y="1965960"/>
            <a:ext cx="1481328" cy="1481328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3759" y="2188159"/>
            <a:ext cx="1036930" cy="1036930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7058" y="2521458"/>
            <a:ext cx="370332" cy="370332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32888" y="2706624"/>
            <a:ext cx="55549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0492" y="2638730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2556" y="3348058"/>
            <a:ext cx="277749" cy="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2411" y="3761239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1892" y="3348058"/>
            <a:ext cx="-277749" cy="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6249" y="3761239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706624"/>
            <a:ext cx="-55549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168" y="2638730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1892" y="2065190"/>
            <a:ext cx="-277749" cy="-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6249" y="1516221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62556" y="2065190"/>
            <a:ext cx="277749" cy="-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2411" y="1516221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2080" y="2514600"/>
            <a:ext cx="685800" cy="6858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732520" y="1965960"/>
            <a:ext cx="1481328" cy="1481328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54719" y="2188159"/>
            <a:ext cx="1036930" cy="1036930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88018" y="2521458"/>
            <a:ext cx="370332" cy="370332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13848" y="2706624"/>
            <a:ext cx="55549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701452" y="2638730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43516" y="3348058"/>
            <a:ext cx="277749" cy="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3371" y="3761239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02852" y="3348058"/>
            <a:ext cx="-277749" cy="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57209" y="3761239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32520" y="2706624"/>
            <a:ext cx="-555498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09128" y="2638730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02852" y="2065190"/>
            <a:ext cx="-277749" cy="-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57209" y="1516221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843516" y="2065190"/>
            <a:ext cx="277749" cy="-481075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053371" y="1516221"/>
            <a:ext cx="135788" cy="135788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ESTÍMULO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370832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OBSERVACIÓN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36676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60120" y="516636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metacognición no elimina la presión. Hace visibles influencias y alternativas que antes permanecían fuera de la decisión.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3749040" y="5989320"/>
            <a:ext cx="4709160" cy="310896"/>
          </a:xfrm>
          <a:prstGeom prst="roundRect">
            <a:avLst>
              <a:gd name="adj" fmla="val 23529"/>
            </a:avLst>
          </a:prstGeom>
          <a:solidFill>
            <a:srgbClr val="49F5C1">
              <a:alpha val="18000"/>
            </a:srgbClr>
          </a:solidFill>
          <a:ln w="12700">
            <a:solidFill>
              <a:srgbClr val="49F5C1">
                <a:alpha val="7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22192" y="600760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RECUPERADO: PROTOCOLO HUMANO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RESOLUCIÓN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derrotamos a MIRA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Cambiamos las condiciones bajo las que puede actuar.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AUTONOMÍA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502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9856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1416" y="24231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8456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CANALES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48456" y="3502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Verificados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91072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632" y="24231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19672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MODELOS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519672" y="3502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Gobernados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162288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13848" y="24231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90888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390888" y="3502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Supervisadas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05840" y="4663440"/>
            <a:ext cx="10058400" cy="896112"/>
          </a:xfrm>
          <a:prstGeom prst="roundRect">
            <a:avLst>
              <a:gd name="adj" fmla="val 8163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280160" y="49560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5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ESTABLE  ·  RIESGO ELIMINADO: NO  ·  CONTROL RECUPERADO: PARCIAL  ·  ENTRENAMIENTO: CONTINUO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REVELACIÓN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Self &amp; Attention Doors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vivieron forma parte de un framework para decisiones más seguras.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2" y="231343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219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SELF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67919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representación funcional construida con datos, patrones e inferencias.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3952" y="2313432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2219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DOORS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0" y="267919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vías por las que ciertos estímulos adquieren prioridad.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7947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952" y="414223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50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450799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que crea espacio, análisis, alternativas y acción deliberada.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17920" y="37947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3952" y="4142232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050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AGENCIA SEGURA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32320" y="450799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sistemas e IA sin entregar criterio, supervisión y responsabilidad.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TEASER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Nueve Puertas de Atención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encontraron algunas. El programa completo entrena las nueve y sus combinaciones contextuales.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35608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84648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1920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33688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246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3560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Justicia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3063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246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75320" y="3063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246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3368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Pertenencia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206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35608" y="4343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4206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84648" y="4343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75320" y="420624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33688" y="4343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Conveniencia / Rutina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56235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debilidades ni diagnósticos. Son prioridades que cambian con la persona, el estímulo y el contexto.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PRODUCTO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webinar a la capacidad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muestra no sustituye el entrenamiento ni la intervención en contexto.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166360" cy="2880360"/>
          </a:xfrm>
          <a:prstGeom prst="roundRect">
            <a:avLst>
              <a:gd name="adj" fmla="val 2540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6771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90779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Entorno controlado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55701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345643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habilidades y lenguaje;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396849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386791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 progresivos;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437997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427939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y sparring con 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166360" cy="2880360"/>
          </a:xfrm>
          <a:prstGeom prst="roundRect">
            <a:avLst>
              <a:gd name="adj" fmla="val 2540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26771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INTERVENCIÓN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90779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Contexto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355701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345643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barreras y procesos;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396849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86791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canales, defaults y controles;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4379976"/>
            <a:ext cx="82296" cy="82296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427939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y cambio sostenido.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3492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formación desarrolla capacidad. La intervención cambia las condiciones para que esa capacidad se convierta en conducta.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FUNDAMENTO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Basado en evidencia y práctica continua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IA dentro del proceso no garantiza mejores decisiones.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95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106 EXPERIMENTOS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 + IA superó al humano solo, pero quedó por debajo del mejor de ambos en promedio.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395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F5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ENTRENAMIENTO CONTINUO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30632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conciencia inicial no garantiza transferencia, mantenimiento ni respuesta bajo presión.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892040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está en cómo distribuimos trabajo, confianza, verificación y responsabilidad.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Vaccaro, Almaatouq &amp; Malone (2024); NIST SP 800-50 Rev. 1.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RECOMPENSA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también puede convertirse en aliada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cofre contiene el Prompt Espejo 1 para revisar tu Digital Self de forma responsable.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00D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1720" y="2395728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ESPEJO-1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4440" y="4187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Hechos · inferencias · vacíos · exposición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57800" y="2011680"/>
            <a:ext cx="5989320" cy="2971800"/>
          </a:xfrm>
          <a:prstGeom prst="roundRect">
            <a:avLst>
              <a:gd name="adj" fmla="val 2462"/>
            </a:avLst>
          </a:prstGeom>
          <a:solidFill>
            <a:srgbClr val="0F2734">
              <a:alpha val="93000"/>
            </a:srgbClr>
          </a:solidFill>
          <a:ln w="12700">
            <a:solidFill>
              <a:srgbClr val="49F5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23317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F5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2907792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webinar mostró que una decisión puede ser influida en segundos.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77840" y="3703320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completo entrena la capacidad de reconocerlo, intervenir y responder cuando ocurre en la vida real.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5559552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00D8FF">
              <a:alpha val="18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557784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COFRE EN EL JUEGO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1143000"/>
            <a:ext cx="1700784" cy="1700784"/>
          </a:xfrm>
          <a:prstGeom prst="ellipse">
            <a:avLst/>
          </a:prstGeom>
          <a:solidFill>
            <a:srgbClr val="00D8FF">
              <a:alpha val="8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918" y="1398118"/>
            <a:ext cx="1190549" cy="1190549"/>
          </a:xfrm>
          <a:prstGeom prst="ellipse">
            <a:avLst/>
          </a:prstGeom>
          <a:solidFill>
            <a:srgbClr val="FF4D7A">
              <a:alpha val="6000"/>
            </a:srgbClr>
          </a:solidFill>
          <a:ln w="12700">
            <a:solidFill>
              <a:srgbClr val="FF4D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5594" y="1780794"/>
            <a:ext cx="425196" cy="425196"/>
          </a:xfrm>
          <a:prstGeom prst="ellipse">
            <a:avLst/>
          </a:prstGeom>
          <a:solidFill>
            <a:srgbClr val="00D8FF">
              <a:alpha val="95000"/>
            </a:srgbClr>
          </a:solidFill>
          <a:ln w="6350">
            <a:solidFill>
              <a:srgbClr val="F5F7F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58584" y="1993392"/>
            <a:ext cx="637794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8425" y="1915439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3388" y="2729853"/>
            <a:ext cx="318897" cy="552346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4332" y="3204246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82996" y="2729853"/>
            <a:ext cx="-318897" cy="552346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146" y="3204246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1993392"/>
            <a:ext cx="-637794" cy="0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2053" y="1915439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2996" y="1256931"/>
            <a:ext cx="-318897" cy="-552346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6146" y="626633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3388" y="1256931"/>
            <a:ext cx="318897" cy="-552346"/>
          </a:xfrm>
          <a:prstGeom prst="line">
            <a:avLst/>
          </a:prstGeom>
          <a:noFill/>
          <a:ln w="12700">
            <a:solidFill>
              <a:srgbClr val="27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74332" y="626633"/>
            <a:ext cx="155905" cy="155905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1965960" y="4526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de su organización ya está siendo mediada por IA?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6360" y="55138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49F5C1">
              <a:alpha val="18000"/>
            </a:srgbClr>
          </a:solidFill>
          <a:ln w="12700">
            <a:solidFill>
              <a:srgbClr val="49F5C1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55321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F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08695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Con el apoyo de la Cámara de Comercio de Bogotá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Self &amp; Attention Doors — Webinar MIRA</dc:title>
  <dc:subject>Webinar interactivo — MIRA</dc:subject>
  <dc:creator>Digital Self &amp; Attention Doors</dc:creator>
  <cp:lastModifiedBy>Digital Self &amp; Attention Doors</cp:lastModifiedBy>
  <cp:revision>1</cp:revision>
  <dcterms:created xsi:type="dcterms:W3CDTF">2026-08-06T21:26:52Z</dcterms:created>
  <dcterms:modified xsi:type="dcterms:W3CDTF">2026-08-06T21:26:52Z</dcterms:modified>
</cp:coreProperties>
</file>